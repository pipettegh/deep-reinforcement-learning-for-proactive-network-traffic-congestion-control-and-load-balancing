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08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the audience, supervisor, and committee. Introduce the research topic: evaluating Deep Reinforcement Learning (DQN and PPO) against static ECMP for proactive load balancing across wide-area ISP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traditional ECMP relies on static hashing of packet headers without inspecting buffer occupancy. When heavy elephant flows hash to the same link, severe queue overflows occur.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our key objectives: evaluating DQN and PPO against ECMP, validating zero-shot transferability on held-out topologies, examining per-step dynamics, and identifying saturation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250-feature state vector. Zero-padding allows the network to process any topology graph. PCA justified normalising queue and link inputs prior to feeding into the policy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the architectural dichotomy: PPO optimizes continuous load weights while DQN operates on 10 discrete bins. Note our structural caveat regarding the different action representations.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to the boxplot. Moderate traffic is the sweet spot. Both DQN and PPO demonstrate statistically significant superiority over ECMP across all held-out test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crucial mathematical nuance: PPO achieves the highest per-step reward (-0.0333 vs DQN's -0.0359 and ECMP's -0.0515) and survives 1760 steps. Episodic sums penalize it simply because it operates longer before truncation.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the honest negative result: When the network is globally saturated, no routing policy can circumvent bottlenecks. Path exploration under full saturation causes extra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to the reward matrix. Our zero-shot evaluation on 5 completely unseen topologies validates that the learned routing policies transfer successfully across unfamiliar graph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Conclude the presentation by summarizing core takeaways: DRL excels under moderate and burst conditions, per-step metrics resolve cumulative truncation artifacts, and admission control is essential for saturation. Thank the committee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Reinforcement Learning for Proactive Network Traffic Congestion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Authors: Peter </a:t>
            </a:r>
            <a:r>
              <a:rPr dirty="0" err="1"/>
              <a:t>Borngreat</a:t>
            </a:r>
            <a:r>
              <a:rPr dirty="0"/>
              <a:t>-Mensah, Henry Asante, Blessing </a:t>
            </a:r>
            <a:r>
              <a:t>Listowell</a:t>
            </a:r>
            <a:r>
              <a:rPr dirty="0"/>
              <a:t> Issaka</a:t>
            </a:r>
          </a:p>
          <a:p>
            <a:r>
              <a:rPr dirty="0"/>
              <a:t>MSc Computer Science, Cohort B, University of Ghana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Static Routing &amp; Micro-Bursts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Wide-area networks suffer from transient micro-bursts and volatile traffic demands.</a:t>
            </a:r>
          </a:p>
          <a:p>
            <a:r>
              <a:t>- Equal-Cost Multi-Path (ECMP, RFC 2992) relies on static packet header hashing.</a:t>
            </a:r>
          </a:p>
          <a:p>
            <a:r>
              <a:t>- ECMP is stateless and blind to real-time link queue depths.</a:t>
            </a:r>
          </a:p>
          <a:p>
            <a:r>
              <a:t>- Hash collisions map heavy 'elephant flows' onto the same bottleneck links, causing packet drops.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Implement DRL agents (DQN and PPO) inside an SDN-controlled framework.</a:t>
            </a:r>
          </a:p>
          <a:p>
            <a:r>
              <a:t>2. Evaluate zero-shot generalization on 5 completely unseen ISP topologies.</a:t>
            </a:r>
          </a:p>
          <a:p>
            <a:r>
              <a:t>3. Evaluate per-step routing efficiency vs cumulative episode truncation effects.</a:t>
            </a:r>
          </a:p>
          <a:p>
            <a:r>
              <a:t>4. Identify theoretical capacity boundaries under heavy network saturation.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State Space &amp; PCA 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MDP State Formulation:</a:t>
            </a:r>
          </a:p>
          <a:p>
            <a:r>
              <a:t>- 250-dimensional continuous telemetry vector.</a:t>
            </a:r>
            <a:br/>
            <a:r>
              <a:t>- Top 100 links (utilization ratio).</a:t>
            </a:r>
            <a:br/>
            <a:r>
              <a:t>- Top 100 switch queues (buffer depth).</a:t>
            </a:r>
            <a:br/>
            <a:r>
              <a:t>- 50 instantaneous flow demands.</a:t>
            </a:r>
            <a:br/>
            <a:r>
              <a:t>- Deterministic zero-padding for topologies with &lt; 100 links.</a:t>
            </a:r>
          </a:p>
          <a:p>
            <a:r>
              <a:t>- PCA Variance: High variance in link and queue states motivated feature normalization.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903" y="3787629"/>
            <a:ext cx="4114800" cy="20723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Continuous vs Discrete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Action Space Architecture:</a:t>
            </a:r>
          </a:p>
          <a:p>
            <a:r>
              <a:t>- PPO: Explores continuous probability distributions over candidate K-shortest paths.</a:t>
            </a:r>
            <a:br/>
            <a:r>
              <a:t>- DQN: Bound to 10 discrete routing bins.</a:t>
            </a:r>
            <a:br/>
            <a:r>
              <a:t>- Structural Caveat: Comparing discrete DQN to continuous PPO is an intentional architectural contrast.</a:t>
            </a:r>
            <a:br/>
            <a:r>
              <a:t>- Reward Function: Penalizes queue congestion and packet drops while encouraging throughput.</a:t>
            </a:r>
          </a:p>
        </p:txBody>
      </p:sp>
      <p:pic>
        <p:nvPicPr>
          <p:cNvPr id="4" name="Picture 3" descr="action_space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022" y="3028426"/>
            <a:ext cx="4114800" cy="27914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Success: Moderate Traffic Regime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930825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Optimal Operating Window:</a:t>
            </a:r>
          </a:p>
          <a:p>
            <a:r>
              <a:rPr dirty="0"/>
              <a:t>- Moderate traffic is where BOTH DRL agents cleanly outperform ECMP.</a:t>
            </a:r>
            <a:br>
              <a:rPr dirty="0"/>
            </a:br>
            <a:r>
              <a:rPr dirty="0"/>
              <a:t>- Zero-shot test on 5 held-out topologies (paired two-tailed t-test, </a:t>
            </a:r>
            <a:r>
              <a:rPr dirty="0" err="1"/>
              <a:t>df</a:t>
            </a:r>
            <a:r>
              <a:rPr dirty="0"/>
              <a:t> = 4):</a:t>
            </a:r>
            <a:br>
              <a:rPr dirty="0"/>
            </a:br>
            <a:r>
              <a:rPr dirty="0"/>
              <a:t>  * DQN vs ECMP: t = 151.32, p &lt; 0.0001</a:t>
            </a:r>
            <a:br>
              <a:rPr dirty="0"/>
            </a:br>
            <a:r>
              <a:rPr dirty="0"/>
              <a:t>  * PPO vs ECMP: t = 76.49, p &lt; 0.0001</a:t>
            </a:r>
            <a:br>
              <a:rPr dirty="0"/>
            </a:br>
            <a:r>
              <a:rPr dirty="0"/>
              <a:t>- DQN maintained lower median link utilization (0.88 vs 0.92), proactively avoiding </a:t>
            </a:r>
            <a:endParaRPr lang="en-US" dirty="0"/>
          </a:p>
          <a:p>
            <a:r>
              <a:rPr dirty="0"/>
              <a:t>bottleneck formation.</a:t>
            </a:r>
          </a:p>
        </p:txBody>
      </p:sp>
      <p:pic>
        <p:nvPicPr>
          <p:cNvPr id="4" name="Picture 3" descr="utilization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882" y="3455076"/>
            <a:ext cx="4114800" cy="23513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Burst Traffic &amp; Per-Step Efficiency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Per-Step vs Cumulative Reward:</a:t>
            </a:r>
          </a:p>
          <a:p>
            <a:r>
              <a:t>- Cumulative Reward: DQN (-49.48) beat ECMP (-54.12), while PPO scored -58.52.</a:t>
            </a:r>
            <a:br/>
            <a:r>
              <a:t>- Survival Length: PPO survived 1760 steps vs DQN's 1380 and ECMP's 1050 steps.</a:t>
            </a:r>
            <a:br/>
            <a:r>
              <a:t>- True Per-Step Reward:</a:t>
            </a:r>
            <a:br/>
            <a:r>
              <a:t>  * PPO: -0.0333 / step (Most efficient)</a:t>
            </a:r>
            <a:br/>
            <a:r>
              <a:t>  * DQN: -0.0359 / step</a:t>
            </a:r>
            <a:br/>
            <a:r>
              <a:t>  * ECMP: -0.0515 / step (Worst)</a:t>
            </a:r>
            <a:br/>
            <a:r>
              <a:t>- Cumulative totals penalize PPO for surviving longer in lossy environments.</a:t>
            </a:r>
          </a:p>
        </p:txBody>
      </p:sp>
      <p:pic>
        <p:nvPicPr>
          <p:cNvPr id="4" name="Picture 3" descr="burst_performanc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717" y="3779240"/>
            <a:ext cx="41148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Saturation Limit (Honest Negative Result)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Physical Capacity Boundaries:</a:t>
            </a:r>
          </a:p>
          <a:p>
            <a:r>
              <a:t>- Under heavy congestion, all links reach 100% saturation.</a:t>
            </a:r>
            <a:br/>
            <a:r>
              <a:t>- DRL performed worse than ECMP (-80.41 and -80.43 vs -73.78).</a:t>
            </a:r>
            <a:br/>
            <a:r>
              <a:t>- Continued path-shifting under saturation creates counterproductive routing churn.</a:t>
            </a:r>
            <a:br/>
            <a:r>
              <a:t>- Proves that routing algorithms cannot create bandwidth without admission control.</a:t>
            </a:r>
          </a:p>
        </p:txBody>
      </p:sp>
      <p:pic>
        <p:nvPicPr>
          <p:cNvPr id="4" name="Picture 3" descr="throughput_vs_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44" y="2864840"/>
            <a:ext cx="41148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Zero-Shot Generalization on 5 Unseen Topologies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Held-Out Test Set (Zero Overlap):</a:t>
            </a:r>
          </a:p>
          <a:p>
            <a:r>
              <a:t>- Trained on 20 topologies (AsnetAm, Bellsouth, Nextgen, Roedunet, etc.).</a:t>
            </a:r>
            <a:br/>
            <a:r>
              <a:t>- Tested on 5 held-out topologies: Abilene, Janetbackbone, Bellcanada, Colt, Renater2001.</a:t>
            </a:r>
            <a:br/>
            <a:r>
              <a:t>- DQN consistently achieved highest reward across all 5 unseen topologies under moderate traffic.</a:t>
            </a:r>
            <a:br/>
            <a:r>
              <a:t>- Single-palette heatmap illustrates consistent performance gradients.</a:t>
            </a:r>
          </a:p>
        </p:txBody>
      </p:sp>
      <p:pic>
        <p:nvPicPr>
          <p:cNvPr id="4" name="Picture 3" descr="reward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831" y="3032620"/>
            <a:ext cx="4114800" cy="25321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DRL is highly effective for proactive load balancing under Moderate traffic (both win) and Burst traffic (DQN wins cumulative, PPO wins per-step).</a:t>
            </a:r>
          </a:p>
          <a:p>
            <a:r>
              <a:t>- Per-step analysis revealed PPO's superior efficiency (-0.0333/step) and prolonged survival (1760 steps).</a:t>
            </a:r>
          </a:p>
          <a:p>
            <a:r>
              <a:t>- Zero-shot topological generalization is viable via standardized telemetry zero-padding.</a:t>
            </a:r>
          </a:p>
          <a:p>
            <a:r>
              <a:t>- DRL routing cannot solve physical saturation without active admission control.</a:t>
            </a:r>
          </a:p>
          <a:p>
            <a:r>
              <a:t>- Recommendation: Couple DRL routing with dynamic rate limiting and admission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1004</Words>
  <Application>Microsoft Office PowerPoint</Application>
  <PresentationFormat>On-screen Show (4:3)</PresentationFormat>
  <Paragraphs>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Deep Reinforcement Learning for Proactive Network Traffic Congestion Control</vt:lpstr>
      <vt:lpstr>The Problem: Static Routing &amp; Micro-Bursts</vt:lpstr>
      <vt:lpstr>Research Objectives</vt:lpstr>
      <vt:lpstr>Methodology: State Space &amp; PCA Variance</vt:lpstr>
      <vt:lpstr>Methodology: Continuous vs Discrete Actions</vt:lpstr>
      <vt:lpstr>Primary Success: Moderate Traffic Regime</vt:lpstr>
      <vt:lpstr>Burst Traffic &amp; Per-Step Efficiency Dynamics</vt:lpstr>
      <vt:lpstr>The Saturation Limit (Honest Negative Result)</vt:lpstr>
      <vt:lpstr>Zero-Shot Generalization on 5 Unseen Topologies</vt:lpstr>
      <vt:lpstr>Conclusions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CMS AI Labs</cp:lastModifiedBy>
  <cp:revision>8</cp:revision>
  <dcterms:created xsi:type="dcterms:W3CDTF">2013-01-27T09:14:16Z</dcterms:created>
  <dcterms:modified xsi:type="dcterms:W3CDTF">2026-08-24T19:59:37Z</dcterms:modified>
  <cp:category/>
</cp:coreProperties>
</file>