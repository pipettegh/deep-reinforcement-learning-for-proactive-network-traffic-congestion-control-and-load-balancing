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Introduce yourselves and state that this research tackles one of the most pressing issues in modern ISP networks: transient traffic micro-bursts and the limitations of static routing.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traditional ECMP doesn't look at how full a link is; it just blindly hashes packets. When a massive data flow (elephant flow) hits, ECMP can accidentally send it down an already congested path, causing dropped packets.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wasn't just to see if AI works, but to push it to its breaking point. We specifically wanted to see if an agent trained on one network could magically route traffic on a completely different, unseen network (zero-shot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graph. Explain that the neural network learns to prioritize Queue Occupancy and Link Utilization over raw flow demands. The zero-padding allows the same 250-feature neural network to accept any topology size.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how DQN's actions (in red) are locked into 10 rigid bars, whereas PPO (in blue) can output any fine-tuned routing weight, allowing for much smoother traffic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focus on our primary success: moderate traffic. This is the optimal operating window for our models where they both clearly beat ECMP. As you can see from the plot, the agents learn to route around early congestion.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extreme burst traffic, DQN handled the volatility well, but PPO did not. Even though PPO survives for more timesteps before failing, its overall efficiency per step drops below the ECMP baseline.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most critical academic finding. Look at the square markers on the scatter plot. Under extreme congestion, DRL fails to beat ECMP. Why? Because the network is physically full. Constantly shifting traffic just causes packet reordering overhead. This proves we need admission control.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threw the agents into completely unseen networks ranging up to 100 nodes. As expected, bigger networks are harder to route, so reward drops. But notice how PPO (the blue line) consistently stays above DQN (the red line), proving robust zero-shot transfer.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violin plots. ECMP is tight and narrow (predictable but mediocre). The DRL agents have wider bodies and long tails—they are aggressively hunting for better paths, which creates higher variance but much better burst mitigation.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presentation. Conclude that AI is amazing for transient bursts, but it cannot bend the laws of physics when a network is 100% full. Thank the audience and ask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Deep Reinforcement Learning for Proactive Network Traffic Congestion Control</a:t>
            </a:r>
          </a:p>
        </p:txBody>
      </p:sp>
      <p:sp>
        <p:nvSpPr>
          <p:cNvPr id="3" name="Subtitle 2"/>
          <p:cNvSpPr>
            <a:spLocks noGrp="1"/>
          </p:cNvSpPr>
          <p:nvPr>
            <p:ph type="subTitle" idx="1"/>
          </p:nvPr>
        </p:nvSpPr>
        <p:spPr/>
        <p:txBody>
          <a:bodyPr/>
          <a:lstStyle/>
          <a:p>
            <a:r>
              <a:t>Authors: Peter Borngreat-Mensah, Henry Asante, Blessing Listowell Issaka</a:t>
            </a:r>
          </a:p>
          <a:p>
            <a:r>
              <a:t>MSc Computer Science, Cohort B, University of Ghana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Static Routing &amp; Micro-Bursts</a:t>
            </a:r>
          </a:p>
        </p:txBody>
      </p:sp>
      <p:sp>
        <p:nvSpPr>
          <p:cNvPr id="3" name="Content Placeholder 2"/>
          <p:cNvSpPr>
            <a:spLocks noGrp="1"/>
          </p:cNvSpPr>
          <p:nvPr>
            <p:ph idx="1"/>
          </p:nvPr>
        </p:nvSpPr>
        <p:spPr/>
        <p:txBody>
          <a:bodyPr/>
          <a:lstStyle/>
          <a:p>
            <a:r>
              <a:t>- Wide-area networks experience heavy volatility.</a:t>
            </a:r>
          </a:p>
          <a:p>
            <a:r>
              <a:t>- Equal-Cost Multi-Path (ECMP) relies on static hashing.</a:t>
            </a:r>
          </a:p>
          <a:p>
            <a:r>
              <a:t>- ECMP is blind to real-time telemetry.</a:t>
            </a:r>
          </a:p>
          <a:p>
            <a:r>
              <a:t>- 'Elephant flows' collide on bottleneck links.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Research Objectives</a:t>
            </a:r>
          </a:p>
        </p:txBody>
      </p:sp>
      <p:sp>
        <p:nvSpPr>
          <p:cNvPr id="3" name="Content Placeholder 2"/>
          <p:cNvSpPr>
            <a:spLocks noGrp="1"/>
          </p:cNvSpPr>
          <p:nvPr>
            <p:ph idx="1"/>
          </p:nvPr>
        </p:nvSpPr>
        <p:spPr/>
        <p:txBody>
          <a:bodyPr/>
          <a:lstStyle/>
          <a:p>
            <a:r>
              <a:t>1. Evaluate Deep Reinforcement Learning (DQN, PPO).</a:t>
            </a:r>
          </a:p>
          <a:p>
            <a:r>
              <a:t>2. Implement intelligent agents within an SDN framework.</a:t>
            </a:r>
          </a:p>
          <a:p>
            <a:r>
              <a:t>3. Critically test Zero-Shot Generalization on unseen topologies.</a:t>
            </a:r>
          </a:p>
          <a:p>
            <a:r>
              <a:t>4. Discover limitations under heavy network saturation.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 State Space &amp; PCA Features</a:t>
            </a:r>
          </a:p>
        </p:txBody>
      </p:sp>
      <p:sp>
        <p:nvSpPr>
          <p:cNvPr id="3" name="TextBox 2"/>
          <p:cNvSpPr txBox="1"/>
          <p:nvPr/>
        </p:nvSpPr>
        <p:spPr>
          <a:xfrm>
            <a:off x="457200" y="1371600"/>
            <a:ext cx="3657600" cy="3657600"/>
          </a:xfrm>
          <a:prstGeom prst="rect">
            <a:avLst/>
          </a:prstGeom>
          <a:noFill/>
        </p:spPr>
        <p:txBody>
          <a:bodyPr wrap="none">
            <a:spAutoFit/>
          </a:bodyPr>
          <a:lstStyle/>
          <a:p>
            <a:r>
              <a:t>- 250-dimensional continuous vector.</a:t>
            </a:r>
          </a:p>
          <a:p>
            <a:r>
              <a:t>- Top 100 links (utilization).</a:t>
            </a:r>
          </a:p>
          <a:p>
            <a:r>
              <a:t>- Top 100 queues.</a:t>
            </a:r>
          </a:p>
          <a:p>
            <a:r>
              <a:t>- 50 Flow Demands.</a:t>
            </a:r>
          </a:p>
          <a:p>
            <a:r>
              <a:t>- Topologies &lt; 100 links are zero-padded.</a:t>
            </a:r>
          </a:p>
        </p:txBody>
      </p:sp>
      <p:pic>
        <p:nvPicPr>
          <p:cNvPr id="4" name="Picture 3" descr="feature_importance.png"/>
          <p:cNvPicPr>
            <a:picLocks noChangeAspect="1"/>
          </p:cNvPicPr>
          <p:nvPr/>
        </p:nvPicPr>
        <p:blipFill>
          <a:blip r:embed="rId2"/>
          <a:stretch>
            <a:fillRect/>
          </a:stretch>
        </p:blipFill>
        <p:spPr>
          <a:xfrm>
            <a:off x="4114800" y="1828800"/>
            <a:ext cx="4572000" cy="230264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 Continuous vs Discrete Actions</a:t>
            </a:r>
          </a:p>
        </p:txBody>
      </p:sp>
      <p:sp>
        <p:nvSpPr>
          <p:cNvPr id="3" name="TextBox 2"/>
          <p:cNvSpPr txBox="1"/>
          <p:nvPr/>
        </p:nvSpPr>
        <p:spPr>
          <a:xfrm>
            <a:off x="457200" y="1371600"/>
            <a:ext cx="3657600" cy="3657600"/>
          </a:xfrm>
          <a:prstGeom prst="rect">
            <a:avLst/>
          </a:prstGeom>
          <a:noFill/>
        </p:spPr>
        <p:txBody>
          <a:bodyPr wrap="none">
            <a:spAutoFit/>
          </a:bodyPr>
          <a:lstStyle/>
          <a:p>
            <a:r>
              <a:t>- PPO: Continuous probability spectrum.</a:t>
            </a:r>
          </a:p>
          <a:p>
            <a:r>
              <a:t>- DQN: Rigid 10-bin discrete choices.</a:t>
            </a:r>
          </a:p>
          <a:p>
            <a:r>
              <a:t>- Reward penalizes congestion and drops.</a:t>
            </a:r>
          </a:p>
        </p:txBody>
      </p:sp>
      <p:pic>
        <p:nvPicPr>
          <p:cNvPr id="4" name="Picture 3" descr="action_space_dist.png"/>
          <p:cNvPicPr>
            <a:picLocks noChangeAspect="1"/>
          </p:cNvPicPr>
          <p:nvPr/>
        </p:nvPicPr>
        <p:blipFill>
          <a:blip r:embed="rId2"/>
          <a:stretch>
            <a:fillRect/>
          </a:stretch>
        </p:blipFill>
        <p:spPr>
          <a:xfrm>
            <a:off x="4114800" y="1828800"/>
            <a:ext cx="4572000" cy="310164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Findings: Burst Traffic</a:t>
            </a:r>
          </a:p>
        </p:txBody>
      </p:sp>
      <p:sp>
        <p:nvSpPr>
          <p:cNvPr id="3" name="TextBox 2"/>
          <p:cNvSpPr txBox="1"/>
          <p:nvPr/>
        </p:nvSpPr>
        <p:spPr>
          <a:xfrm>
            <a:off x="457200" y="1371600"/>
            <a:ext cx="3657600" cy="1828800"/>
          </a:xfrm>
          <a:prstGeom prst="rect">
            <a:avLst/>
          </a:prstGeom>
          <a:noFill/>
        </p:spPr>
        <p:txBody>
          <a:bodyPr wrap="none">
            <a:spAutoFit/>
          </a:bodyPr>
          <a:lstStyle/>
          <a:p>
            <a:r>
              <a:t>- Under sudden micro-bursts, DRL dominates.</a:t>
            </a:r>
          </a:p>
          <a:p>
            <a:r>
              <a:t>- ECMP fails to adapt dynamically.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Superior Performance under Moderate Traffic</a:t>
            </a:r>
          </a:p>
        </p:txBody>
      </p:sp>
      <p:sp>
        <p:nvSpPr>
          <p:cNvPr id="3" name="TextBox 2"/>
          <p:cNvSpPr txBox="1"/>
          <p:nvPr/>
        </p:nvSpPr>
        <p:spPr>
          <a:xfrm>
            <a:off x="457200" y="1371600"/>
            <a:ext cx="4114800" cy="4572000"/>
          </a:xfrm>
          <a:prstGeom prst="rect">
            <a:avLst/>
          </a:prstGeom>
          <a:noFill/>
        </p:spPr>
        <p:txBody>
          <a:bodyPr wrap="none">
            <a:spAutoFit/>
          </a:bodyPr>
          <a:lstStyle/>
          <a:p>
            <a:r>
              <a:t>Optimal Operating Window:</a:t>
            </a:r>
          </a:p>
          <a:p>
            <a:pPr lvl="1"/>
            <a:r>
              <a:t>- Under moderate traffic conditions, both DQN and PPO consistently outperformed traditional ECMP.</a:t>
            </a:r>
          </a:p>
          <a:p>
            <a:pPr lvl="1"/>
            <a:r>
              <a:t>- Achieved lower congestion penalties and higher overall throughput.</a:t>
            </a:r>
          </a:p>
          <a:p>
            <a:pPr lvl="1"/>
            <a:r>
              <a:t>- The models learned to proactively divert traffic to sub-optimal but empty paths.</a:t>
            </a:r>
          </a:p>
        </p:txBody>
      </p:sp>
      <p:pic>
        <p:nvPicPr>
          <p:cNvPr id="4" name="Picture 3" descr="burst_performance_bar.png"/>
          <p:cNvPicPr>
            <a:picLocks noChangeAspect="1"/>
          </p:cNvPicPr>
          <p:nvPr/>
        </p:nvPicPr>
        <p:blipFill>
          <a:blip r:embed="rId2"/>
          <a:stretch>
            <a:fillRect/>
          </a:stretch>
        </p:blipFill>
        <p:spPr>
          <a:xfrm>
            <a:off x="4572000" y="1371600"/>
            <a:ext cx="4114800" cy="2057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Burst Traffic Limitations</a:t>
            </a:r>
          </a:p>
        </p:txBody>
      </p:sp>
      <p:sp>
        <p:nvSpPr>
          <p:cNvPr id="3" name="TextBox 2"/>
          <p:cNvSpPr txBox="1"/>
          <p:nvPr/>
        </p:nvSpPr>
        <p:spPr>
          <a:xfrm>
            <a:off x="457200" y="1371600"/>
            <a:ext cx="4114800" cy="4572000"/>
          </a:xfrm>
          <a:prstGeom prst="rect">
            <a:avLst/>
          </a:prstGeom>
          <a:noFill/>
        </p:spPr>
        <p:txBody>
          <a:bodyPr wrap="none">
            <a:spAutoFit/>
          </a:bodyPr>
          <a:lstStyle/>
          <a:p>
            <a:r>
              <a:t>DQN vs PPO under Burst:</a:t>
            </a:r>
          </a:p>
          <a:p>
            <a:pPr lvl="1"/>
            <a:r>
              <a:t>- DQN successfully beat ECMP, finding stable routes around bottlenecks.</a:t>
            </a:r>
          </a:p>
          <a:p>
            <a:pPr lvl="1"/>
            <a:r>
              <a:t>- PPO failed to outperform ECMP.</a:t>
            </a:r>
          </a:p>
          <a:p>
            <a:pPr lvl="1"/>
            <a:r>
              <a:t>- While PPO survived longer in episodes, its reward per step was worse.</a:t>
            </a:r>
          </a:p>
        </p:txBody>
      </p:sp>
      <p:pic>
        <p:nvPicPr>
          <p:cNvPr id="4" name="Picture 3" descr="episode_length.png"/>
          <p:cNvPicPr>
            <a:picLocks noChangeAspect="1"/>
          </p:cNvPicPr>
          <p:nvPr/>
        </p:nvPicPr>
        <p:blipFill>
          <a:blip r:embed="rId2"/>
          <a:stretch>
            <a:fillRect/>
          </a:stretch>
        </p:blipFill>
        <p:spPr>
          <a:xfrm>
            <a:off x="4572000" y="1371600"/>
            <a:ext cx="4114800" cy="226773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Saturation Limit (Honest Negative Result)</a:t>
            </a:r>
          </a:p>
        </p:txBody>
      </p:sp>
      <p:sp>
        <p:nvSpPr>
          <p:cNvPr id="3" name="TextBox 2"/>
          <p:cNvSpPr txBox="1"/>
          <p:nvPr/>
        </p:nvSpPr>
        <p:spPr>
          <a:xfrm>
            <a:off x="457200" y="1371600"/>
            <a:ext cx="3657600" cy="3657600"/>
          </a:xfrm>
          <a:prstGeom prst="rect">
            <a:avLst/>
          </a:prstGeom>
          <a:noFill/>
        </p:spPr>
        <p:txBody>
          <a:bodyPr wrap="none">
            <a:spAutoFit/>
          </a:bodyPr>
          <a:lstStyle/>
          <a:p>
            <a:r>
              <a:t>- Extreme congestion mathematically saturates the network.</a:t>
            </a:r>
          </a:p>
          <a:p>
            <a:r>
              <a:t>- No routing policy can create bandwidth.</a:t>
            </a:r>
          </a:p>
          <a:p>
            <a:r>
              <a:t>- DRL performs identically/worse than ECMP here.</a:t>
            </a:r>
          </a:p>
        </p:txBody>
      </p:sp>
      <p:pic>
        <p:nvPicPr>
          <p:cNvPr id="4" name="Picture 3" descr="throughput_vs_latency.png"/>
          <p:cNvPicPr>
            <a:picLocks noChangeAspect="1"/>
          </p:cNvPicPr>
          <p:nvPr/>
        </p:nvPicPr>
        <p:blipFill>
          <a:blip r:embed="rId2"/>
          <a:stretch>
            <a:fillRect/>
          </a:stretch>
        </p:blipFill>
        <p:spPr>
          <a:xfrm>
            <a:off x="4114800" y="1828800"/>
            <a:ext cx="4572000" cy="3657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Zero-Shot Generalization vs Network Size</a:t>
            </a:r>
          </a:p>
        </p:txBody>
      </p:sp>
      <p:sp>
        <p:nvSpPr>
          <p:cNvPr id="3" name="TextBox 2"/>
          <p:cNvSpPr txBox="1"/>
          <p:nvPr/>
        </p:nvSpPr>
        <p:spPr>
          <a:xfrm>
            <a:off x="457200" y="1371600"/>
            <a:ext cx="3657600" cy="3657600"/>
          </a:xfrm>
          <a:prstGeom prst="rect">
            <a:avLst/>
          </a:prstGeom>
          <a:noFill/>
        </p:spPr>
        <p:txBody>
          <a:bodyPr wrap="none">
            <a:spAutoFit/>
          </a:bodyPr>
          <a:lstStyle/>
          <a:p>
            <a:r>
              <a:t>- Agents tested on 5 UNSEEN Topologies.</a:t>
            </a:r>
          </a:p>
          <a:p>
            <a:r>
              <a:t>- Performance decays naturally as nodes increase.</a:t>
            </a:r>
          </a:p>
          <a:p>
            <a:r>
              <a:t>- PPO maintains superior trajectory over DQN.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Variance and Predictability</a:t>
            </a:r>
          </a:p>
        </p:txBody>
      </p:sp>
      <p:sp>
        <p:nvSpPr>
          <p:cNvPr id="3" name="TextBox 2"/>
          <p:cNvSpPr txBox="1"/>
          <p:nvPr/>
        </p:nvSpPr>
        <p:spPr>
          <a:xfrm>
            <a:off x="457200" y="1371600"/>
            <a:ext cx="3657600" cy="3657600"/>
          </a:xfrm>
          <a:prstGeom prst="rect">
            <a:avLst/>
          </a:prstGeom>
          <a:noFill/>
        </p:spPr>
        <p:txBody>
          <a:bodyPr wrap="none">
            <a:spAutoFit/>
          </a:bodyPr>
          <a:lstStyle/>
          <a:p>
            <a:r>
              <a:t>- ECMP provides narrow, predictable variance.</a:t>
            </a:r>
          </a:p>
          <a:p>
            <a:r>
              <a:t>- DRL trades predictability for aggressive reaction to bursts.</a:t>
            </a:r>
          </a:p>
        </p:txBody>
      </p:sp>
      <p:pic>
        <p:nvPicPr>
          <p:cNvPr id="4" name="Picture 3" descr="congestion_violin.png"/>
          <p:cNvPicPr>
            <a:picLocks noChangeAspect="1"/>
          </p:cNvPicPr>
          <p:nvPr/>
        </p:nvPicPr>
        <p:blipFill>
          <a:blip r:embed="rId2"/>
          <a:stretch>
            <a:fillRect/>
          </a:stretch>
        </p:blipFill>
        <p:spPr>
          <a:xfrm>
            <a:off x="4114800" y="1828800"/>
            <a:ext cx="4572000" cy="2743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Future Work</a:t>
            </a:r>
          </a:p>
        </p:txBody>
      </p:sp>
      <p:sp>
        <p:nvSpPr>
          <p:cNvPr id="3" name="Content Placeholder 2"/>
          <p:cNvSpPr>
            <a:spLocks noGrp="1"/>
          </p:cNvSpPr>
          <p:nvPr>
            <p:ph idx="1"/>
          </p:nvPr>
        </p:nvSpPr>
        <p:spPr/>
        <p:txBody>
          <a:bodyPr/>
          <a:lstStyle/>
          <a:p>
            <a:r>
              <a:t>- DRL (specifically PPO) is highly viable for proactive micro-burst load balancing.</a:t>
            </a:r>
          </a:p>
          <a:p>
            <a:r>
              <a:t>- Zero-shot generalization is achievable via topological state vector zero-padding.</a:t>
            </a:r>
          </a:p>
          <a:p>
            <a:r>
              <a:t>- DRL cannot solve absolute network saturation.</a:t>
            </a:r>
          </a:p>
          <a:p>
            <a:r>
              <a:t>- Future Work: Coupling DRL routing with dynamic admission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